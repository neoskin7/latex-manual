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 Skinner" userId="8964888c5998ab0a" providerId="LiveId" clId="{DFDDC273-A734-4D08-9846-F2CA9FE5130A}"/>
    <pc:docChg chg="delSld">
      <pc:chgData name="Neo Skinner" userId="8964888c5998ab0a" providerId="LiveId" clId="{DFDDC273-A734-4D08-9846-F2CA9FE5130A}" dt="2026-07-06T16:45:01.874" v="0" actId="47"/>
      <pc:docMkLst>
        <pc:docMk/>
      </pc:docMkLst>
      <pc:sldChg chg="del">
        <pc:chgData name="Neo Skinner" userId="8964888c5998ab0a" providerId="LiveId" clId="{DFDDC273-A734-4D08-9846-F2CA9FE5130A}" dt="2026-07-06T16:45:01.874" v="0" actId="47"/>
        <pc:sldMkLst>
          <pc:docMk/>
          <pc:sldMk cId="142114883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0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989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54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828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95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3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80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8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4881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88860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42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72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86710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47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39751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09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17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5836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8993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402929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00497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447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891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721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1500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64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BE4FCEB-E01F-4556-AA4A-190CF07E119A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90C8316-75E7-47A3-9B27-638938B56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48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  <p:sldLayoutId id="2147483925" r:id="rId19"/>
    <p:sldLayoutId id="2147483926" r:id="rId20"/>
    <p:sldLayoutId id="2147483927" r:id="rId21"/>
    <p:sldLayoutId id="2147483928" r:id="rId22"/>
    <p:sldLayoutId id="2147483929" r:id="rId23"/>
    <p:sldLayoutId id="2147483930" r:id="rId24"/>
    <p:sldLayoutId id="2147483931" r:id="rId25"/>
    <p:sldLayoutId id="2147483932" r:id="rId26"/>
    <p:sldLayoutId id="214748393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055B60A-BA92-9A15-4A38-8D3F7463ED64}"/>
              </a:ext>
            </a:extLst>
          </p:cNvPr>
          <p:cNvGrpSpPr/>
          <p:nvPr/>
        </p:nvGrpSpPr>
        <p:grpSpPr>
          <a:xfrm>
            <a:off x="550737" y="1074252"/>
            <a:ext cx="5080042" cy="4709495"/>
            <a:chOff x="428435" y="809625"/>
            <a:chExt cx="4593219" cy="4709495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00F523B-8A56-D2AB-83FE-F9E28FE476F0}"/>
                </a:ext>
              </a:extLst>
            </p:cNvPr>
            <p:cNvSpPr txBox="1">
              <a:spLocks/>
            </p:cNvSpPr>
            <p:nvPr/>
          </p:nvSpPr>
          <p:spPr>
            <a:xfrm>
              <a:off x="428435" y="809625"/>
              <a:ext cx="3710428" cy="8370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85000"/>
                </a:lnSpc>
                <a:spcBef>
                  <a:spcPct val="0"/>
                </a:spcBef>
                <a:buNone/>
                <a:defRPr lang="en-US" sz="4800" b="0" kern="1200" spc="-110" baseline="0" dirty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dirty="0">
                  <a:solidFill>
                    <a:schemeClr val="bg1"/>
                  </a:solidFill>
                </a:rPr>
                <a:t>Resonance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32ADBAD0-F76A-5E14-E41D-B325284B8B9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8435" y="2202108"/>
                  <a:ext cx="4593219" cy="3317012"/>
                </a:xfrm>
                <a:prstGeom prst="rect">
                  <a:avLst/>
                </a:prstGeom>
              </p:spPr>
              <p:txBody>
                <a:bodyPr anchor="t">
                  <a:noAutofit/>
                </a:bodyPr>
                <a:lstStyle>
                  <a:lvl1pPr marL="0" indent="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2286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4572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6858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144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lang="en-GB" sz="2000" dirty="0">
                      <a:solidFill>
                        <a:schemeClr val="bg1"/>
                      </a:solidFill>
                    </a:rPr>
                    <a:t>From the resonance peak, the resonant angular driving frequency,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en-GB" sz="2000" dirty="0">
                      <a:solidFill>
                        <a:schemeClr val="bg1"/>
                      </a:solidFill>
                    </a:rPr>
                    <a:t>, 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GB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3.26±0.02</m:t>
                          </m:r>
                        </m:e>
                      </m:d>
                    </m:oMath>
                  </a14:m>
                  <a:r>
                    <a:rPr lang="en-GB" sz="2000" dirty="0">
                      <a:solidFill>
                        <a:schemeClr val="bg1"/>
                      </a:solidFill>
                    </a:rPr>
                    <a:t> rad s</a:t>
                  </a:r>
                  <a:r>
                    <a:rPr lang="en-GB" sz="2000" baseline="30000" dirty="0">
                      <a:solidFill>
                        <a:schemeClr val="bg1"/>
                      </a:solidFill>
                    </a:rPr>
                    <a:t>-1</a:t>
                  </a:r>
                  <a:r>
                    <a:rPr lang="en-GB" sz="2000" dirty="0">
                      <a:solidFill>
                        <a:schemeClr val="bg1"/>
                      </a:solidFill>
                    </a:rPr>
                    <a:t>.</a:t>
                  </a:r>
                </a:p>
                <a:p>
                  <a:pPr algn="just"/>
                  <a:r>
                    <a:rPr lang="en-GB" sz="2000" dirty="0">
                      <a:solidFill>
                        <a:schemeClr val="bg1"/>
                      </a:solidFill>
                    </a:rPr>
                    <a:t>Using the resonance shift equation (5), we get a value for the natural frequency of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GB" sz="2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3.28±0.01</m:t>
                          </m:r>
                        </m:e>
                      </m:d>
                    </m:oMath>
                  </a14:m>
                  <a:r>
                    <a:rPr lang="en-GB" sz="2000" dirty="0">
                      <a:solidFill>
                        <a:schemeClr val="bg1"/>
                      </a:solidFill>
                    </a:rPr>
                    <a:t> rad s</a:t>
                  </a:r>
                  <a:r>
                    <a:rPr lang="en-GB" sz="2000" baseline="30000" dirty="0">
                      <a:solidFill>
                        <a:schemeClr val="bg1"/>
                      </a:solidFill>
                    </a:rPr>
                    <a:t>-1</a:t>
                  </a:r>
                  <a:r>
                    <a:rPr lang="en-GB" sz="2000" dirty="0">
                      <a:solidFill>
                        <a:schemeClr val="bg1"/>
                      </a:solidFill>
                    </a:rPr>
                    <a:t>. This is lower than the predicted value from free oscillations [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GB" sz="2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3.33±0.01</m:t>
                          </m:r>
                        </m:e>
                      </m:d>
                    </m:oMath>
                  </a14:m>
                  <a:r>
                    <a:rPr lang="en-GB" sz="2000" dirty="0">
                      <a:solidFill>
                        <a:schemeClr val="bg1"/>
                      </a:solidFill>
                    </a:rPr>
                    <a:t> rad s</a:t>
                  </a:r>
                  <a:r>
                    <a:rPr lang="en-GB" sz="2000" baseline="30000" dirty="0">
                      <a:solidFill>
                        <a:schemeClr val="bg1"/>
                      </a:solidFill>
                    </a:rPr>
                    <a:t>-1</a:t>
                  </a:r>
                  <a:r>
                    <a:rPr lang="en-GB" sz="2000" dirty="0">
                      <a:solidFill>
                        <a:schemeClr val="bg1"/>
                      </a:solidFill>
                    </a:rPr>
                    <a:t>].</a:t>
                  </a:r>
                </a:p>
              </p:txBody>
            </p:sp>
          </mc:Choice>
          <mc:Fallback xmlns="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32ADBAD0-F76A-5E14-E41D-B325284B8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35" y="2202108"/>
                  <a:ext cx="4593219" cy="3317012"/>
                </a:xfrm>
                <a:prstGeom prst="rect">
                  <a:avLst/>
                </a:prstGeom>
                <a:blipFill>
                  <a:blip r:embed="rId2"/>
                  <a:stretch>
                    <a:fillRect l="-1199" t="-184" r="-119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238AF20-D110-712A-5459-2B57E694CEB5}"/>
              </a:ext>
            </a:extLst>
          </p:cNvPr>
          <p:cNvGrpSpPr/>
          <p:nvPr/>
        </p:nvGrpSpPr>
        <p:grpSpPr>
          <a:xfrm>
            <a:off x="6416842" y="1337351"/>
            <a:ext cx="5224421" cy="4183297"/>
            <a:chOff x="6457949" y="2132657"/>
            <a:chExt cx="4593221" cy="37259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D1D708E8-3F10-457F-8764-A08F7498BC5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57950" y="5194804"/>
                  <a:ext cx="4593220" cy="66379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Autofit/>
                </a:bodyPr>
                <a:lstStyle>
                  <a:lvl1pPr marL="0" indent="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lang="en-US" sz="1400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2286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lang="en-US" sz="1400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4572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lang="en-US" sz="1400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6858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lang="en-US" sz="1400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14400" indent="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lang="en-US" sz="1400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lang="en-GB" sz="1600" dirty="0">
                      <a:solidFill>
                        <a:schemeClr val="bg1"/>
                      </a:solidFill>
                    </a:rPr>
                    <a:t>A resonance curve with Lorentzian fit for a damping current of 0.6 A. The peak falls at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GB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0.519±0.004</m:t>
                          </m:r>
                        </m:e>
                      </m:d>
                    </m:oMath>
                  </a14:m>
                  <a:r>
                    <a:rPr lang="en-GB" sz="1600" dirty="0">
                      <a:solidFill>
                        <a:schemeClr val="bg1"/>
                      </a:solidFill>
                    </a:rPr>
                    <a:t> Hz.</a:t>
                  </a:r>
                </a:p>
              </p:txBody>
            </p:sp>
          </mc:Choice>
          <mc:Fallback xmlns="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D1D708E8-3F10-457F-8764-A08F7498B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950" y="5194804"/>
                  <a:ext cx="4593220" cy="663792"/>
                </a:xfrm>
                <a:prstGeom prst="rect">
                  <a:avLst/>
                </a:prstGeom>
                <a:blipFill>
                  <a:blip r:embed="rId3"/>
                  <a:stretch>
                    <a:fillRect l="-700" r="-58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5985433-D9BF-BC6A-35BE-E86E55B9A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7949" y="2132657"/>
              <a:ext cx="4593220" cy="30621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80180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49</TotalTime>
  <Words>76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Neue Haas Grotesk Text Pro</vt:lpstr>
      <vt:lpstr>Film Burn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Skinner</dc:creator>
  <cp:lastModifiedBy>Neo Skinner</cp:lastModifiedBy>
  <cp:revision>1</cp:revision>
  <dcterms:created xsi:type="dcterms:W3CDTF">2026-06-30T11:07:53Z</dcterms:created>
  <dcterms:modified xsi:type="dcterms:W3CDTF">2026-07-06T16:45:05Z</dcterms:modified>
</cp:coreProperties>
</file>